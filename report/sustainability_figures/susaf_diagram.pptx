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7836"/>
    <a:srgbClr val="FF94A2"/>
    <a:srgbClr val="0F7C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8077"/>
    <p:restoredTop sz="94684"/>
  </p:normalViewPr>
  <p:slideViewPr>
    <p:cSldViewPr snapToGrid="0">
      <p:cViewPr>
        <p:scale>
          <a:sx n="104" d="100"/>
          <a:sy n="104" d="100"/>
        </p:scale>
        <p:origin x="179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A7AB8-1B2C-0389-F1A8-94BDD0425C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1BE83C-87E6-BCF6-DD61-8564BBF614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1B9CC-576C-76F6-975D-720BC669D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9DA18-C432-C14E-B600-70D8C71D64DC}" type="datetimeFigureOut">
              <a:rPr lang="en-US" smtClean="0"/>
              <a:t>5/7/25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31D53-AE28-2AF9-8022-5BDD05C16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A1F8E-AB0C-97CE-F2E5-48B8DE53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2BBEC-6772-DC4B-9F3D-072E19E36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800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068D6-A1BC-4DF7-D4E8-F491888ED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6128E-8672-8939-071C-A992FB35F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C6BAF-BDC7-B96B-1D88-919A06855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9DA18-C432-C14E-B600-70D8C71D64DC}" type="datetimeFigureOut">
              <a:rPr lang="en-US" smtClean="0"/>
              <a:t>5/7/25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1B2E8-9BEB-7F45-CC8B-097AF533C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62E14-562D-962B-F306-E2D8EB210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2BBEC-6772-DC4B-9F3D-072E19E36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54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2FADC-A4F3-096E-ADDE-AD87BDFB9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D778F4-B764-3247-F5FE-7A6B6085E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BF2F5-6F38-CD32-2C07-1474EEFE8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9DA18-C432-C14E-B600-70D8C71D64DC}" type="datetimeFigureOut">
              <a:rPr lang="en-US" smtClean="0"/>
              <a:t>5/7/25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7668D-49F8-182F-7270-A49E1D7E7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277DC-A46B-2143-1419-3662EC182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2BBEC-6772-DC4B-9F3D-072E19E36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992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58649-B774-CFA5-098C-AC168F42F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2AFC9-7DF2-2F99-AC77-D2E791B66B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81A93D-2C8E-0CE0-659D-2E183A79E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8BAA81-8E0B-40FC-DF43-5557AB068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9DA18-C432-C14E-B600-70D8C71D64DC}" type="datetimeFigureOut">
              <a:rPr lang="en-US" smtClean="0"/>
              <a:t>5/7/25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74322E-E790-7AD1-64F2-B179885DC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6F4CAC-1635-AEC2-828D-B260D3241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2BBEC-6772-DC4B-9F3D-072E19E36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798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10E6E-916B-C583-B883-C90193AF0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4B5AA-E7C0-21B9-F350-0E1893D3C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E834D0-7522-78A9-06F0-13E571ADBA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AEC06A-54F6-3C60-A453-90D78C8A43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5F5D8F-4165-DDF4-6CFE-CD12AF7332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F01F11-36D8-DC2E-F539-D971C87C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9DA18-C432-C14E-B600-70D8C71D64DC}" type="datetimeFigureOut">
              <a:rPr lang="en-US" smtClean="0"/>
              <a:t>5/7/25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EA80A3-D0BC-E9E2-DFCE-0D2E51A31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87882A-2640-6FF3-EEEF-9D102E577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2BBEC-6772-DC4B-9F3D-072E19E36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078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5DE63-414E-1C2C-4C32-7FC3FCB64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2E72E1-4949-2942-57F8-A90FC7BBE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9DA18-C432-C14E-B600-70D8C71D64DC}" type="datetimeFigureOut">
              <a:rPr lang="en-US" smtClean="0"/>
              <a:t>5/7/25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634011-43C8-5D0E-A98F-40629BBED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578BA9-A48B-CB35-8A13-879EEBDD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2BBEC-6772-DC4B-9F3D-072E19E36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069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275B0E-1EC0-94D4-7862-EA006B665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9DA18-C432-C14E-B600-70D8C71D64DC}" type="datetimeFigureOut">
              <a:rPr lang="en-US" smtClean="0"/>
              <a:t>5/7/25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C96950-B942-6354-C10A-6D6736C5C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009F1-C777-EF5A-1C86-7BB5B6FAE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2BBEC-6772-DC4B-9F3D-072E19E36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808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61457-65FF-CA85-69E1-F85452500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F228B-5014-61CF-9BF5-B19555264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C5715E-9730-2C4F-B6A1-68FE4583EB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4F5F1-3C89-D8A9-78A2-C321CC7C8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9DA18-C432-C14E-B600-70D8C71D64DC}" type="datetimeFigureOut">
              <a:rPr lang="en-US" smtClean="0"/>
              <a:t>5/7/25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70C21-E1BF-8E1B-8E54-9CCCE1A8E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3AD52D-1BEA-50D2-6506-1F1CDF262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2BBEC-6772-DC4B-9F3D-072E19E36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980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6155D-EF75-2C7D-C71C-E296507BB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C44AC9-F01E-C28D-3F84-C0C75F3712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7D1AA9-88D4-5DC1-260E-D3186058E8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77687F-3AA7-EB33-111C-536C9397C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9DA18-C432-C14E-B600-70D8C71D64DC}" type="datetimeFigureOut">
              <a:rPr lang="en-US" smtClean="0"/>
              <a:t>5/7/25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01C365-F127-6E71-3FB1-964555014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783F08-0F92-DB58-0F36-6ABFB9CA2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2BBEC-6772-DC4B-9F3D-072E19E36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558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1518D-63B6-C738-3DD8-A1D93807A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0B3D3C-01FF-DA6A-47F2-8A2634946C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062A5-F2C8-3288-E833-11718B8BD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9DA18-C432-C14E-B600-70D8C71D64DC}" type="datetimeFigureOut">
              <a:rPr lang="en-US" smtClean="0"/>
              <a:t>5/7/25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2CDFC-A4C9-CDC0-CA32-46783BAE0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2F479-6468-7853-D944-4F5808EF1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2BBEC-6772-DC4B-9F3D-072E19E36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625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45F9C4-46DE-F56F-ED95-167297D4A2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B6ED91-CC9C-A0AF-10A0-B4CE7C4CF0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A64F7-2BEC-692A-EA05-B6E2A5230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9DA18-C432-C14E-B600-70D8C71D64DC}" type="datetimeFigureOut">
              <a:rPr lang="en-US" smtClean="0"/>
              <a:t>5/7/25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93621-1386-DE38-C34A-2A2850080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15EDC-DC15-9270-D832-6984C491F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2BBEC-6772-DC4B-9F3D-072E19E36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774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5DF8C-2CC7-92D3-3E77-2EF84E3F9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12388B-6B43-D96F-3627-12E1C7595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3178A-866E-8036-2944-85ADC65F7E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89DA18-C432-C14E-B600-70D8C71D64DC}" type="datetimeFigureOut">
              <a:rPr lang="en-US" smtClean="0"/>
              <a:t>5/7/25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A8B32-B2B4-8063-03D4-645DE66D72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41FA7-C54E-0F69-7687-C89421C734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42BBEC-6772-DC4B-9F3D-072E19E36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28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gular Pentagon 4">
            <a:extLst>
              <a:ext uri="{FF2B5EF4-FFF2-40B4-BE49-F238E27FC236}">
                <a16:creationId xmlns:a16="http://schemas.microsoft.com/office/drawing/2014/main" id="{DE275078-2BCE-5A8E-6D51-92829DB53105}"/>
              </a:ext>
            </a:extLst>
          </p:cNvPr>
          <p:cNvSpPr/>
          <p:nvPr/>
        </p:nvSpPr>
        <p:spPr>
          <a:xfrm>
            <a:off x="1684625" y="108548"/>
            <a:ext cx="6606760" cy="6292151"/>
          </a:xfrm>
          <a:prstGeom prst="pentagon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gular Pentagon 5">
            <a:extLst>
              <a:ext uri="{FF2B5EF4-FFF2-40B4-BE49-F238E27FC236}">
                <a16:creationId xmlns:a16="http://schemas.microsoft.com/office/drawing/2014/main" id="{694AF95A-FA58-E4DF-3A3F-E6A349A15875}"/>
              </a:ext>
            </a:extLst>
          </p:cNvPr>
          <p:cNvSpPr/>
          <p:nvPr/>
        </p:nvSpPr>
        <p:spPr>
          <a:xfrm>
            <a:off x="2515680" y="980729"/>
            <a:ext cx="4944646" cy="4709186"/>
          </a:xfrm>
          <a:prstGeom prst="pentagon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gular Pentagon 6">
            <a:extLst>
              <a:ext uri="{FF2B5EF4-FFF2-40B4-BE49-F238E27FC236}">
                <a16:creationId xmlns:a16="http://schemas.microsoft.com/office/drawing/2014/main" id="{704153BC-2A41-27B8-01A3-28BBD9C33908}"/>
              </a:ext>
            </a:extLst>
          </p:cNvPr>
          <p:cNvSpPr/>
          <p:nvPr/>
        </p:nvSpPr>
        <p:spPr>
          <a:xfrm>
            <a:off x="3372003" y="1888503"/>
            <a:ext cx="3231999" cy="3078095"/>
          </a:xfrm>
          <a:prstGeom prst="pentagon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E01E603-8955-AA88-3483-59D148AA2184}"/>
              </a:ext>
            </a:extLst>
          </p:cNvPr>
          <p:cNvCxnSpPr>
            <a:cxnSpLocks/>
            <a:stCxn id="5" idx="0"/>
          </p:cNvCxnSpPr>
          <p:nvPr/>
        </p:nvCxnSpPr>
        <p:spPr>
          <a:xfrm flipH="1">
            <a:off x="4988002" y="108548"/>
            <a:ext cx="3" cy="3480023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59051E1-E4CB-BEF2-37BE-09FCECDD7730}"/>
              </a:ext>
            </a:extLst>
          </p:cNvPr>
          <p:cNvCxnSpPr>
            <a:cxnSpLocks/>
            <a:stCxn id="5" idx="1"/>
          </p:cNvCxnSpPr>
          <p:nvPr/>
        </p:nvCxnSpPr>
        <p:spPr>
          <a:xfrm>
            <a:off x="1684632" y="2511929"/>
            <a:ext cx="3303364" cy="10766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8440C20-7202-01F2-70C8-DFD0F957C6DC}"/>
              </a:ext>
            </a:extLst>
          </p:cNvPr>
          <p:cNvCxnSpPr>
            <a:cxnSpLocks/>
            <a:stCxn id="5" idx="2"/>
          </p:cNvCxnSpPr>
          <p:nvPr/>
        </p:nvCxnSpPr>
        <p:spPr>
          <a:xfrm flipV="1">
            <a:off x="2946408" y="3588571"/>
            <a:ext cx="2041587" cy="28121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5D1508D-D36F-AD6A-2EBE-494E9DE9E5CE}"/>
              </a:ext>
            </a:extLst>
          </p:cNvPr>
          <p:cNvCxnSpPr>
            <a:cxnSpLocks/>
            <a:endCxn id="5" idx="5"/>
          </p:cNvCxnSpPr>
          <p:nvPr/>
        </p:nvCxnSpPr>
        <p:spPr>
          <a:xfrm flipV="1">
            <a:off x="4988002" y="2511929"/>
            <a:ext cx="3303376" cy="10766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D88516F-32A8-2667-DBF1-7C0DCF2CAE3E}"/>
              </a:ext>
            </a:extLst>
          </p:cNvPr>
          <p:cNvCxnSpPr>
            <a:cxnSpLocks/>
            <a:endCxn id="5" idx="4"/>
          </p:cNvCxnSpPr>
          <p:nvPr/>
        </p:nvCxnSpPr>
        <p:spPr>
          <a:xfrm>
            <a:off x="4987995" y="3588571"/>
            <a:ext cx="2041606" cy="28121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58E78A5-E7F7-5226-8867-DA3C8EBE9F8A}"/>
              </a:ext>
            </a:extLst>
          </p:cNvPr>
          <p:cNvSpPr txBox="1"/>
          <p:nvPr/>
        </p:nvSpPr>
        <p:spPr>
          <a:xfrm rot="19451426">
            <a:off x="2032279" y="899527"/>
            <a:ext cx="20775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Social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68E1165-9936-F976-213C-1C386CE3A72D}"/>
              </a:ext>
            </a:extLst>
          </p:cNvPr>
          <p:cNvSpPr txBox="1"/>
          <p:nvPr/>
        </p:nvSpPr>
        <p:spPr>
          <a:xfrm rot="2166386">
            <a:off x="5833429" y="892008"/>
            <a:ext cx="20775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Independent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7E6D3C5-0BA9-051B-5F48-642B790EDDCA}"/>
              </a:ext>
            </a:extLst>
          </p:cNvPr>
          <p:cNvSpPr txBox="1"/>
          <p:nvPr/>
        </p:nvSpPr>
        <p:spPr>
          <a:xfrm rot="17272789">
            <a:off x="6948842" y="4256714"/>
            <a:ext cx="2077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7320E6F-551B-F39A-E369-222A7456360D}"/>
              </a:ext>
            </a:extLst>
          </p:cNvPr>
          <p:cNvSpPr txBox="1"/>
          <p:nvPr/>
        </p:nvSpPr>
        <p:spPr>
          <a:xfrm rot="4312781">
            <a:off x="953520" y="4257178"/>
            <a:ext cx="2077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Economic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FB467C7-89B9-5FF9-51EE-F70D67171614}"/>
              </a:ext>
            </a:extLst>
          </p:cNvPr>
          <p:cNvSpPr txBox="1"/>
          <p:nvPr/>
        </p:nvSpPr>
        <p:spPr>
          <a:xfrm>
            <a:off x="3827964" y="6414960"/>
            <a:ext cx="23411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Environmental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6A943755-A08D-84BB-D68B-6B97D0B90387}"/>
              </a:ext>
            </a:extLst>
          </p:cNvPr>
          <p:cNvSpPr/>
          <p:nvPr/>
        </p:nvSpPr>
        <p:spPr>
          <a:xfrm>
            <a:off x="4887054" y="2262175"/>
            <a:ext cx="731318" cy="731318"/>
          </a:xfrm>
          <a:prstGeom prst="roundRect">
            <a:avLst/>
          </a:prstGeom>
          <a:solidFill>
            <a:srgbClr val="92D05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A95543D-E041-2943-F44E-330F84FB695D}"/>
              </a:ext>
            </a:extLst>
          </p:cNvPr>
          <p:cNvSpPr txBox="1"/>
          <p:nvPr/>
        </p:nvSpPr>
        <p:spPr>
          <a:xfrm>
            <a:off x="4787828" y="2320610"/>
            <a:ext cx="9333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Users control participation and provide feedback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B4C2A03A-7ACA-2928-39DF-A53A2847E13E}"/>
              </a:ext>
            </a:extLst>
          </p:cNvPr>
          <p:cNvSpPr/>
          <p:nvPr/>
        </p:nvSpPr>
        <p:spPr>
          <a:xfrm>
            <a:off x="5618887" y="2403366"/>
            <a:ext cx="731318" cy="731318"/>
          </a:xfrm>
          <a:prstGeom prst="roundRect">
            <a:avLst/>
          </a:prstGeom>
          <a:solidFill>
            <a:srgbClr val="92D05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A498B54-B79E-5933-6E3D-866A38BF0849}"/>
              </a:ext>
            </a:extLst>
          </p:cNvPr>
          <p:cNvSpPr txBox="1"/>
          <p:nvPr/>
        </p:nvSpPr>
        <p:spPr>
          <a:xfrm>
            <a:off x="5525302" y="2397412"/>
            <a:ext cx="92234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Prompt users to avoid sharing  private details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794149E4-30ED-9FE6-9F38-510D8BC5035E}"/>
              </a:ext>
            </a:extLst>
          </p:cNvPr>
          <p:cNvSpPr/>
          <p:nvPr/>
        </p:nvSpPr>
        <p:spPr>
          <a:xfrm>
            <a:off x="3104789" y="2227676"/>
            <a:ext cx="731318" cy="731318"/>
          </a:xfrm>
          <a:prstGeom prst="roundRect">
            <a:avLst/>
          </a:prstGeom>
          <a:solidFill>
            <a:srgbClr val="92D05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7AB601B-6E60-76AD-B825-6A8F5D1F19C8}"/>
              </a:ext>
            </a:extLst>
          </p:cNvPr>
          <p:cNvSpPr txBox="1"/>
          <p:nvPr/>
        </p:nvSpPr>
        <p:spPr>
          <a:xfrm>
            <a:off x="3015756" y="2275179"/>
            <a:ext cx="9223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Regular updates and listening to feedback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9E86CCCB-664A-E3CE-8349-62DF0906D3D3}"/>
              </a:ext>
            </a:extLst>
          </p:cNvPr>
          <p:cNvSpPr/>
          <p:nvPr/>
        </p:nvSpPr>
        <p:spPr>
          <a:xfrm>
            <a:off x="3703969" y="1699840"/>
            <a:ext cx="731318" cy="731318"/>
          </a:xfrm>
          <a:prstGeom prst="roundRect">
            <a:avLst/>
          </a:prstGeom>
          <a:solidFill>
            <a:srgbClr val="92D05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3F44142-838B-8305-40F3-144DB5FD036A}"/>
              </a:ext>
            </a:extLst>
          </p:cNvPr>
          <p:cNvSpPr txBox="1"/>
          <p:nvPr/>
        </p:nvSpPr>
        <p:spPr>
          <a:xfrm>
            <a:off x="3614936" y="1747343"/>
            <a:ext cx="9223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Cooperative play encourages interactions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85D3ED61-C4BF-9E49-E684-ED66434B7122}"/>
              </a:ext>
            </a:extLst>
          </p:cNvPr>
          <p:cNvSpPr/>
          <p:nvPr/>
        </p:nvSpPr>
        <p:spPr>
          <a:xfrm>
            <a:off x="2330650" y="1751850"/>
            <a:ext cx="731318" cy="731318"/>
          </a:xfrm>
          <a:prstGeom prst="roundRect">
            <a:avLst/>
          </a:prstGeom>
          <a:solidFill>
            <a:srgbClr val="92D05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0E1A05F-2AD2-EB87-05E7-DC3A335BD1B0}"/>
              </a:ext>
            </a:extLst>
          </p:cNvPr>
          <p:cNvSpPr txBox="1"/>
          <p:nvPr/>
        </p:nvSpPr>
        <p:spPr>
          <a:xfrm>
            <a:off x="2246075" y="1872819"/>
            <a:ext cx="92234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Leaderboard fosters a community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D3AAA474-79CD-3DD1-AE5A-B3DEB88BD5B3}"/>
              </a:ext>
            </a:extLst>
          </p:cNvPr>
          <p:cNvSpPr/>
          <p:nvPr/>
        </p:nvSpPr>
        <p:spPr>
          <a:xfrm>
            <a:off x="2232185" y="3817343"/>
            <a:ext cx="731318" cy="731318"/>
          </a:xfrm>
          <a:prstGeom prst="roundRect">
            <a:avLst/>
          </a:prstGeom>
          <a:solidFill>
            <a:srgbClr val="92D05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D71BC43-AB94-40B8-82B4-7116F7411926}"/>
              </a:ext>
            </a:extLst>
          </p:cNvPr>
          <p:cNvSpPr txBox="1"/>
          <p:nvPr/>
        </p:nvSpPr>
        <p:spPr>
          <a:xfrm>
            <a:off x="2158752" y="3853522"/>
            <a:ext cx="8689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Trust translates into user loyalty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89C34D4E-5940-9C95-67C0-CE1682671484}"/>
              </a:ext>
            </a:extLst>
          </p:cNvPr>
          <p:cNvSpPr/>
          <p:nvPr/>
        </p:nvSpPr>
        <p:spPr>
          <a:xfrm>
            <a:off x="5595956" y="3749486"/>
            <a:ext cx="731318" cy="731318"/>
          </a:xfrm>
          <a:prstGeom prst="roundRect">
            <a:avLst/>
          </a:prstGeom>
          <a:solidFill>
            <a:srgbClr val="FFC0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76568539-7017-7811-66D7-30DF86775ABC}"/>
              </a:ext>
            </a:extLst>
          </p:cNvPr>
          <p:cNvSpPr txBox="1"/>
          <p:nvPr/>
        </p:nvSpPr>
        <p:spPr>
          <a:xfrm>
            <a:off x="5509676" y="3872455"/>
            <a:ext cx="92234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Accessible to a range of users</a:t>
            </a:r>
          </a:p>
        </p:txBody>
      </p:sp>
      <p:sp>
        <p:nvSpPr>
          <p:cNvPr id="1025" name="Rounded Rectangle 1024">
            <a:extLst>
              <a:ext uri="{FF2B5EF4-FFF2-40B4-BE49-F238E27FC236}">
                <a16:creationId xmlns:a16="http://schemas.microsoft.com/office/drawing/2014/main" id="{ED244CA5-0D6A-FB8A-171A-5C1859424F56}"/>
              </a:ext>
            </a:extLst>
          </p:cNvPr>
          <p:cNvSpPr/>
          <p:nvPr/>
        </p:nvSpPr>
        <p:spPr>
          <a:xfrm>
            <a:off x="5604834" y="1615998"/>
            <a:ext cx="731318" cy="731318"/>
          </a:xfrm>
          <a:prstGeom prst="roundRect">
            <a:avLst/>
          </a:prstGeom>
          <a:solidFill>
            <a:srgbClr val="FFC0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DBC4D967-1485-367B-7870-682FE64D8D91}"/>
              </a:ext>
            </a:extLst>
          </p:cNvPr>
          <p:cNvSpPr txBox="1"/>
          <p:nvPr/>
        </p:nvSpPr>
        <p:spPr>
          <a:xfrm>
            <a:off x="5518554" y="1603040"/>
            <a:ext cx="92234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Accessible features support impaired users</a:t>
            </a:r>
          </a:p>
        </p:txBody>
      </p:sp>
      <p:sp>
        <p:nvSpPr>
          <p:cNvPr id="1028" name="Rounded Rectangle 1027">
            <a:extLst>
              <a:ext uri="{FF2B5EF4-FFF2-40B4-BE49-F238E27FC236}">
                <a16:creationId xmlns:a16="http://schemas.microsoft.com/office/drawing/2014/main" id="{CF546283-C4EE-AB58-6A9B-4F8FD23B87FF}"/>
              </a:ext>
            </a:extLst>
          </p:cNvPr>
          <p:cNvSpPr/>
          <p:nvPr/>
        </p:nvSpPr>
        <p:spPr>
          <a:xfrm>
            <a:off x="4300921" y="1099971"/>
            <a:ext cx="731318" cy="731318"/>
          </a:xfrm>
          <a:prstGeom prst="roundRect">
            <a:avLst/>
          </a:prstGeom>
          <a:solidFill>
            <a:srgbClr val="FFC0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42D9C6AD-D5DA-49CD-E3CD-2E62E709AC54}"/>
              </a:ext>
            </a:extLst>
          </p:cNvPr>
          <p:cNvSpPr txBox="1"/>
          <p:nvPr/>
        </p:nvSpPr>
        <p:spPr>
          <a:xfrm>
            <a:off x="4202284" y="1198226"/>
            <a:ext cx="92234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Progression is fair and merit based</a:t>
            </a:r>
          </a:p>
        </p:txBody>
      </p:sp>
      <p:sp>
        <p:nvSpPr>
          <p:cNvPr id="1030" name="Rounded Rectangle 1029">
            <a:extLst>
              <a:ext uri="{FF2B5EF4-FFF2-40B4-BE49-F238E27FC236}">
                <a16:creationId xmlns:a16="http://schemas.microsoft.com/office/drawing/2014/main" id="{16C9D094-1EA5-B550-C46A-7399BC34D7D3}"/>
              </a:ext>
            </a:extLst>
          </p:cNvPr>
          <p:cNvSpPr/>
          <p:nvPr/>
        </p:nvSpPr>
        <p:spPr>
          <a:xfrm>
            <a:off x="1935067" y="2958994"/>
            <a:ext cx="731318" cy="731318"/>
          </a:xfrm>
          <a:prstGeom prst="roundRect">
            <a:avLst/>
          </a:prstGeom>
          <a:solidFill>
            <a:srgbClr val="FFC0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AE00A325-D9C9-B490-D46A-BB8C4506E846}"/>
              </a:ext>
            </a:extLst>
          </p:cNvPr>
          <p:cNvSpPr txBox="1"/>
          <p:nvPr/>
        </p:nvSpPr>
        <p:spPr>
          <a:xfrm>
            <a:off x="1840395" y="2934057"/>
            <a:ext cx="92234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Organic growth, as users feel equal and included</a:t>
            </a:r>
          </a:p>
        </p:txBody>
      </p:sp>
      <p:cxnSp>
        <p:nvCxnSpPr>
          <p:cNvPr id="1035" name="Curved Connector 1034">
            <a:extLst>
              <a:ext uri="{FF2B5EF4-FFF2-40B4-BE49-F238E27FC236}">
                <a16:creationId xmlns:a16="http://schemas.microsoft.com/office/drawing/2014/main" id="{6B734A42-BAA2-8BC6-323A-478CC78F8B6C}"/>
              </a:ext>
            </a:extLst>
          </p:cNvPr>
          <p:cNvCxnSpPr>
            <a:cxnSpLocks/>
            <a:stCxn id="1028" idx="2"/>
          </p:cNvCxnSpPr>
          <p:nvPr/>
        </p:nvCxnSpPr>
        <p:spPr>
          <a:xfrm rot="5400000">
            <a:off x="2919064" y="1578611"/>
            <a:ext cx="1494838" cy="2000195"/>
          </a:xfrm>
          <a:prstGeom prst="curvedConnector2">
            <a:avLst/>
          </a:prstGeom>
          <a:ln w="38100">
            <a:solidFill>
              <a:srgbClr val="F7783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9" name="Curved Connector 1038">
            <a:extLst>
              <a:ext uri="{FF2B5EF4-FFF2-40B4-BE49-F238E27FC236}">
                <a16:creationId xmlns:a16="http://schemas.microsoft.com/office/drawing/2014/main" id="{118D128D-27D1-168E-B455-ACD133ECB7B0}"/>
              </a:ext>
            </a:extLst>
          </p:cNvPr>
          <p:cNvCxnSpPr>
            <a:cxnSpLocks/>
            <a:stCxn id="1025" idx="0"/>
          </p:cNvCxnSpPr>
          <p:nvPr/>
        </p:nvCxnSpPr>
        <p:spPr>
          <a:xfrm rot="16200000" flipV="1">
            <a:off x="5403400" y="1048905"/>
            <a:ext cx="162241" cy="971946"/>
          </a:xfrm>
          <a:prstGeom prst="curvedConnector2">
            <a:avLst/>
          </a:prstGeom>
          <a:ln w="38100">
            <a:solidFill>
              <a:srgbClr val="F7783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2" name="Curved Connector 1041">
            <a:extLst>
              <a:ext uri="{FF2B5EF4-FFF2-40B4-BE49-F238E27FC236}">
                <a16:creationId xmlns:a16="http://schemas.microsoft.com/office/drawing/2014/main" id="{31401FCF-0376-BB80-D57F-E090629CE856}"/>
              </a:ext>
            </a:extLst>
          </p:cNvPr>
          <p:cNvCxnSpPr>
            <a:cxnSpLocks/>
            <a:stCxn id="48" idx="0"/>
          </p:cNvCxnSpPr>
          <p:nvPr/>
        </p:nvCxnSpPr>
        <p:spPr>
          <a:xfrm rot="16200000" flipV="1">
            <a:off x="4724937" y="1734398"/>
            <a:ext cx="219565" cy="835989"/>
          </a:xfrm>
          <a:prstGeom prst="curvedConnector2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3" name="Curved Connector 1052">
            <a:extLst>
              <a:ext uri="{FF2B5EF4-FFF2-40B4-BE49-F238E27FC236}">
                <a16:creationId xmlns:a16="http://schemas.microsoft.com/office/drawing/2014/main" id="{AF458CA4-F2B4-F742-59B7-9F941462988D}"/>
              </a:ext>
            </a:extLst>
          </p:cNvPr>
          <p:cNvCxnSpPr>
            <a:cxnSpLocks/>
            <a:stCxn id="55" idx="0"/>
            <a:endCxn id="59" idx="3"/>
          </p:cNvCxnSpPr>
          <p:nvPr/>
        </p:nvCxnSpPr>
        <p:spPr>
          <a:xfrm rot="16200000" flipV="1">
            <a:off x="3211125" y="1968353"/>
            <a:ext cx="110167" cy="408480"/>
          </a:xfrm>
          <a:prstGeom prst="curvedConnector2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6" name="Curved Connector 1055">
            <a:extLst>
              <a:ext uri="{FF2B5EF4-FFF2-40B4-BE49-F238E27FC236}">
                <a16:creationId xmlns:a16="http://schemas.microsoft.com/office/drawing/2014/main" id="{747A6F61-212C-AA3F-C2F5-F9344D2C63BC}"/>
              </a:ext>
            </a:extLst>
          </p:cNvPr>
          <p:cNvCxnSpPr>
            <a:cxnSpLocks/>
            <a:endCxn id="61" idx="3"/>
          </p:cNvCxnSpPr>
          <p:nvPr/>
        </p:nvCxnSpPr>
        <p:spPr>
          <a:xfrm rot="16200000" flipH="1">
            <a:off x="1988690" y="3208189"/>
            <a:ext cx="1693376" cy="256250"/>
          </a:xfrm>
          <a:prstGeom prst="curvedConnector4">
            <a:avLst>
              <a:gd name="adj1" fmla="val 39203"/>
              <a:gd name="adj2" fmla="val 189210"/>
            </a:avLst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9" name="Rounded Rectangle 1068">
            <a:extLst>
              <a:ext uri="{FF2B5EF4-FFF2-40B4-BE49-F238E27FC236}">
                <a16:creationId xmlns:a16="http://schemas.microsoft.com/office/drawing/2014/main" id="{50266984-FC5D-5698-161A-2263027640A7}"/>
              </a:ext>
            </a:extLst>
          </p:cNvPr>
          <p:cNvSpPr/>
          <p:nvPr/>
        </p:nvSpPr>
        <p:spPr>
          <a:xfrm>
            <a:off x="4208921" y="4279600"/>
            <a:ext cx="731318" cy="7313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1CABDBE0-30BD-C380-878B-26D0C3E4777C}"/>
              </a:ext>
            </a:extLst>
          </p:cNvPr>
          <p:cNvSpPr txBox="1"/>
          <p:nvPr/>
        </p:nvSpPr>
        <p:spPr>
          <a:xfrm>
            <a:off x="4113409" y="4323546"/>
            <a:ext cx="9223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 </a:t>
            </a:r>
            <a:r>
              <a:rPr lang="en-US" sz="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r>
              <a:rPr lang="en-US" sz="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reduces resource use</a:t>
            </a:r>
          </a:p>
        </p:txBody>
      </p:sp>
      <p:sp>
        <p:nvSpPr>
          <p:cNvPr id="1071" name="Rounded Rectangle 1070">
            <a:extLst>
              <a:ext uri="{FF2B5EF4-FFF2-40B4-BE49-F238E27FC236}">
                <a16:creationId xmlns:a16="http://schemas.microsoft.com/office/drawing/2014/main" id="{F77B04F2-2E65-1DD7-0175-6C18991D2775}"/>
              </a:ext>
            </a:extLst>
          </p:cNvPr>
          <p:cNvSpPr/>
          <p:nvPr/>
        </p:nvSpPr>
        <p:spPr>
          <a:xfrm>
            <a:off x="4940897" y="4281053"/>
            <a:ext cx="731318" cy="7313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D379732F-8789-5FDB-961A-8F37C3381883}"/>
              </a:ext>
            </a:extLst>
          </p:cNvPr>
          <p:cNvSpPr txBox="1"/>
          <p:nvPr/>
        </p:nvSpPr>
        <p:spPr>
          <a:xfrm>
            <a:off x="4857742" y="4250857"/>
            <a:ext cx="92234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Avoiding unnecessary work, reduces energy use</a:t>
            </a:r>
          </a:p>
        </p:txBody>
      </p:sp>
      <p:cxnSp>
        <p:nvCxnSpPr>
          <p:cNvPr id="1123" name="Curved Connector 1122">
            <a:extLst>
              <a:ext uri="{FF2B5EF4-FFF2-40B4-BE49-F238E27FC236}">
                <a16:creationId xmlns:a16="http://schemas.microsoft.com/office/drawing/2014/main" id="{343EC2D4-326F-9190-E8E9-7E99F53A4720}"/>
              </a:ext>
            </a:extLst>
          </p:cNvPr>
          <p:cNvCxnSpPr>
            <a:cxnSpLocks/>
            <a:stCxn id="1115" idx="2"/>
            <a:endCxn id="1117" idx="3"/>
          </p:cNvCxnSpPr>
          <p:nvPr/>
        </p:nvCxnSpPr>
        <p:spPr>
          <a:xfrm rot="5400000">
            <a:off x="4282498" y="2459319"/>
            <a:ext cx="2208105" cy="4067672"/>
          </a:xfrm>
          <a:prstGeom prst="curved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3" name="Rounded Rectangle 1072">
            <a:extLst>
              <a:ext uri="{FF2B5EF4-FFF2-40B4-BE49-F238E27FC236}">
                <a16:creationId xmlns:a16="http://schemas.microsoft.com/office/drawing/2014/main" id="{8157E865-88C0-4362-7E2F-E2EE466C5727}"/>
              </a:ext>
            </a:extLst>
          </p:cNvPr>
          <p:cNvSpPr/>
          <p:nvPr/>
        </p:nvSpPr>
        <p:spPr>
          <a:xfrm>
            <a:off x="6281622" y="4262707"/>
            <a:ext cx="731318" cy="7313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74" name="TextBox 1073">
            <a:extLst>
              <a:ext uri="{FF2B5EF4-FFF2-40B4-BE49-F238E27FC236}">
                <a16:creationId xmlns:a16="http://schemas.microsoft.com/office/drawing/2014/main" id="{540E394B-E440-4D12-637D-9B452F55C4CC}"/>
              </a:ext>
            </a:extLst>
          </p:cNvPr>
          <p:cNvSpPr txBox="1"/>
          <p:nvPr/>
        </p:nvSpPr>
        <p:spPr>
          <a:xfrm>
            <a:off x="6198467" y="4339202"/>
            <a:ext cx="9223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Sever-less backend helps scalability</a:t>
            </a:r>
          </a:p>
        </p:txBody>
      </p:sp>
      <p:sp>
        <p:nvSpPr>
          <p:cNvPr id="1075" name="Rounded Rectangle 1074">
            <a:extLst>
              <a:ext uri="{FF2B5EF4-FFF2-40B4-BE49-F238E27FC236}">
                <a16:creationId xmlns:a16="http://schemas.microsoft.com/office/drawing/2014/main" id="{D72EE097-E5AA-F2F1-0356-383B0A16285E}"/>
              </a:ext>
            </a:extLst>
          </p:cNvPr>
          <p:cNvSpPr/>
          <p:nvPr/>
        </p:nvSpPr>
        <p:spPr>
          <a:xfrm>
            <a:off x="6674460" y="3680116"/>
            <a:ext cx="731318" cy="7313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76" name="TextBox 1075">
            <a:extLst>
              <a:ext uri="{FF2B5EF4-FFF2-40B4-BE49-F238E27FC236}">
                <a16:creationId xmlns:a16="http://schemas.microsoft.com/office/drawing/2014/main" id="{945CB07F-1522-3E91-D385-4280F67E7731}"/>
              </a:ext>
            </a:extLst>
          </p:cNvPr>
          <p:cNvSpPr txBox="1"/>
          <p:nvPr/>
        </p:nvSpPr>
        <p:spPr>
          <a:xfrm>
            <a:off x="6599037" y="3736620"/>
            <a:ext cx="9223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Ongoing updates avoid full rewrites</a:t>
            </a:r>
          </a:p>
        </p:txBody>
      </p:sp>
      <p:sp>
        <p:nvSpPr>
          <p:cNvPr id="1077" name="Oval 1076">
            <a:extLst>
              <a:ext uri="{FF2B5EF4-FFF2-40B4-BE49-F238E27FC236}">
                <a16:creationId xmlns:a16="http://schemas.microsoft.com/office/drawing/2014/main" id="{E8008719-6DEC-6DBC-3CD4-934606292693}"/>
              </a:ext>
            </a:extLst>
          </p:cNvPr>
          <p:cNvSpPr/>
          <p:nvPr/>
        </p:nvSpPr>
        <p:spPr>
          <a:xfrm>
            <a:off x="8056709" y="5252437"/>
            <a:ext cx="257642" cy="25764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8" name="TextBox 1077">
            <a:extLst>
              <a:ext uri="{FF2B5EF4-FFF2-40B4-BE49-F238E27FC236}">
                <a16:creationId xmlns:a16="http://schemas.microsoft.com/office/drawing/2014/main" id="{3B89A4EB-BD34-D90A-2ACB-9B61B4DB76AA}"/>
              </a:ext>
            </a:extLst>
          </p:cNvPr>
          <p:cNvSpPr txBox="1"/>
          <p:nvPr/>
        </p:nvSpPr>
        <p:spPr>
          <a:xfrm>
            <a:off x="8397098" y="5233080"/>
            <a:ext cx="23693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Green and scalable development</a:t>
            </a:r>
          </a:p>
        </p:txBody>
      </p:sp>
      <p:sp>
        <p:nvSpPr>
          <p:cNvPr id="1079" name="Oval 1078">
            <a:extLst>
              <a:ext uri="{FF2B5EF4-FFF2-40B4-BE49-F238E27FC236}">
                <a16:creationId xmlns:a16="http://schemas.microsoft.com/office/drawing/2014/main" id="{F9F7627F-6A88-C31F-1612-56BBFD4818CA}"/>
              </a:ext>
            </a:extLst>
          </p:cNvPr>
          <p:cNvSpPr/>
          <p:nvPr/>
        </p:nvSpPr>
        <p:spPr>
          <a:xfrm>
            <a:off x="8056709" y="5648773"/>
            <a:ext cx="257642" cy="257642"/>
          </a:xfrm>
          <a:prstGeom prst="ellipse">
            <a:avLst/>
          </a:prstGeom>
          <a:solidFill>
            <a:srgbClr val="FFC0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567E0EC8-3CE3-552A-BFAA-387326B36494}"/>
              </a:ext>
            </a:extLst>
          </p:cNvPr>
          <p:cNvSpPr txBox="1"/>
          <p:nvPr/>
        </p:nvSpPr>
        <p:spPr>
          <a:xfrm>
            <a:off x="8397098" y="5629416"/>
            <a:ext cx="23693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Inclusive and accessible design</a:t>
            </a:r>
          </a:p>
        </p:txBody>
      </p:sp>
      <p:sp>
        <p:nvSpPr>
          <p:cNvPr id="1081" name="Oval 1080">
            <a:extLst>
              <a:ext uri="{FF2B5EF4-FFF2-40B4-BE49-F238E27FC236}">
                <a16:creationId xmlns:a16="http://schemas.microsoft.com/office/drawing/2014/main" id="{5FBF41CC-68DE-D35F-CD03-F0E9F548EDC2}"/>
              </a:ext>
            </a:extLst>
          </p:cNvPr>
          <p:cNvSpPr/>
          <p:nvPr/>
        </p:nvSpPr>
        <p:spPr>
          <a:xfrm>
            <a:off x="8051934" y="6059385"/>
            <a:ext cx="257642" cy="257642"/>
          </a:xfrm>
          <a:prstGeom prst="ellipse">
            <a:avLst/>
          </a:prstGeom>
          <a:solidFill>
            <a:srgbClr val="92D05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2" name="TextBox 1081">
            <a:extLst>
              <a:ext uri="{FF2B5EF4-FFF2-40B4-BE49-F238E27FC236}">
                <a16:creationId xmlns:a16="http://schemas.microsoft.com/office/drawing/2014/main" id="{B882A779-C9FC-0FB7-DED7-0532FAD5CB76}"/>
              </a:ext>
            </a:extLst>
          </p:cNvPr>
          <p:cNvSpPr txBox="1"/>
          <p:nvPr/>
        </p:nvSpPr>
        <p:spPr>
          <a:xfrm>
            <a:off x="8392323" y="6040028"/>
            <a:ext cx="23693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Building trust and community</a:t>
            </a:r>
          </a:p>
        </p:txBody>
      </p:sp>
      <p:sp>
        <p:nvSpPr>
          <p:cNvPr id="1083" name="Rounded Rectangle 1082">
            <a:extLst>
              <a:ext uri="{FF2B5EF4-FFF2-40B4-BE49-F238E27FC236}">
                <a16:creationId xmlns:a16="http://schemas.microsoft.com/office/drawing/2014/main" id="{1ECD2990-A642-6D5E-83DF-24228D39A5BE}"/>
              </a:ext>
            </a:extLst>
          </p:cNvPr>
          <p:cNvSpPr/>
          <p:nvPr/>
        </p:nvSpPr>
        <p:spPr>
          <a:xfrm>
            <a:off x="5402067" y="5679717"/>
            <a:ext cx="731318" cy="7313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84" name="TextBox 1083">
            <a:extLst>
              <a:ext uri="{FF2B5EF4-FFF2-40B4-BE49-F238E27FC236}">
                <a16:creationId xmlns:a16="http://schemas.microsoft.com/office/drawing/2014/main" id="{D3760A37-927B-5294-D3B1-F7C3D184F232}"/>
              </a:ext>
            </a:extLst>
          </p:cNvPr>
          <p:cNvSpPr txBox="1"/>
          <p:nvPr/>
        </p:nvSpPr>
        <p:spPr>
          <a:xfrm>
            <a:off x="5310775" y="5660898"/>
            <a:ext cx="92234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Efficient workflow reduces environment impact</a:t>
            </a:r>
          </a:p>
        </p:txBody>
      </p:sp>
      <p:sp>
        <p:nvSpPr>
          <p:cNvPr id="1085" name="Rounded Rectangle 1084">
            <a:extLst>
              <a:ext uri="{FF2B5EF4-FFF2-40B4-BE49-F238E27FC236}">
                <a16:creationId xmlns:a16="http://schemas.microsoft.com/office/drawing/2014/main" id="{4CD9E436-481B-2B9D-063D-56B1C9FD947D}"/>
              </a:ext>
            </a:extLst>
          </p:cNvPr>
          <p:cNvSpPr/>
          <p:nvPr/>
        </p:nvSpPr>
        <p:spPr>
          <a:xfrm>
            <a:off x="3970800" y="5675505"/>
            <a:ext cx="731318" cy="7313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86" name="TextBox 1085">
            <a:extLst>
              <a:ext uri="{FF2B5EF4-FFF2-40B4-BE49-F238E27FC236}">
                <a16:creationId xmlns:a16="http://schemas.microsoft.com/office/drawing/2014/main" id="{94885065-1CF1-87A2-0606-77A0CC8047FA}"/>
              </a:ext>
            </a:extLst>
          </p:cNvPr>
          <p:cNvSpPr txBox="1"/>
          <p:nvPr/>
        </p:nvSpPr>
        <p:spPr>
          <a:xfrm>
            <a:off x="3883180" y="5728903"/>
            <a:ext cx="9223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Minimising</a:t>
            </a:r>
            <a:r>
              <a:rPr lang="en-US" sz="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resource use supports biodiversity</a:t>
            </a:r>
          </a:p>
        </p:txBody>
      </p:sp>
      <p:cxnSp>
        <p:nvCxnSpPr>
          <p:cNvPr id="1088" name="Curved Connector 1087">
            <a:extLst>
              <a:ext uri="{FF2B5EF4-FFF2-40B4-BE49-F238E27FC236}">
                <a16:creationId xmlns:a16="http://schemas.microsoft.com/office/drawing/2014/main" id="{D1680DF4-5A02-7969-4533-059D64811C38}"/>
              </a:ext>
            </a:extLst>
          </p:cNvPr>
          <p:cNvCxnSpPr>
            <a:cxnSpLocks/>
          </p:cNvCxnSpPr>
          <p:nvPr/>
        </p:nvCxnSpPr>
        <p:spPr>
          <a:xfrm>
            <a:off x="5668870" y="4648165"/>
            <a:ext cx="646047" cy="8263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1" name="Curved Connector 1090">
            <a:extLst>
              <a:ext uri="{FF2B5EF4-FFF2-40B4-BE49-F238E27FC236}">
                <a16:creationId xmlns:a16="http://schemas.microsoft.com/office/drawing/2014/main" id="{13FC5B2F-BCFB-4AB5-C7FB-F3197B828336}"/>
              </a:ext>
            </a:extLst>
          </p:cNvPr>
          <p:cNvCxnSpPr>
            <a:cxnSpLocks/>
            <a:stCxn id="1073" idx="2"/>
            <a:endCxn id="1083" idx="3"/>
          </p:cNvCxnSpPr>
          <p:nvPr/>
        </p:nvCxnSpPr>
        <p:spPr>
          <a:xfrm rot="5400000">
            <a:off x="5864658" y="5262752"/>
            <a:ext cx="1051351" cy="513896"/>
          </a:xfrm>
          <a:prstGeom prst="curvedConnector2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2" name="Curved Connector 1101">
            <a:extLst>
              <a:ext uri="{FF2B5EF4-FFF2-40B4-BE49-F238E27FC236}">
                <a16:creationId xmlns:a16="http://schemas.microsoft.com/office/drawing/2014/main" id="{29F63E57-5B53-1D47-A657-D6D5E3FDA9D5}"/>
              </a:ext>
            </a:extLst>
          </p:cNvPr>
          <p:cNvCxnSpPr>
            <a:stCxn id="1083" idx="1"/>
            <a:endCxn id="1085" idx="3"/>
          </p:cNvCxnSpPr>
          <p:nvPr/>
        </p:nvCxnSpPr>
        <p:spPr>
          <a:xfrm rot="10800000">
            <a:off x="4702119" y="6041164"/>
            <a:ext cx="699949" cy="4212"/>
          </a:xfrm>
          <a:prstGeom prst="curvedConnector3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2" name="Arc 1031">
            <a:extLst>
              <a:ext uri="{FF2B5EF4-FFF2-40B4-BE49-F238E27FC236}">
                <a16:creationId xmlns:a16="http://schemas.microsoft.com/office/drawing/2014/main" id="{027235DC-652C-64A1-EB67-E7F9D5202EA2}"/>
              </a:ext>
            </a:extLst>
          </p:cNvPr>
          <p:cNvSpPr/>
          <p:nvPr/>
        </p:nvSpPr>
        <p:spPr>
          <a:xfrm rot="5400000">
            <a:off x="5113093" y="2204064"/>
            <a:ext cx="2266876" cy="1541335"/>
          </a:xfrm>
          <a:prstGeom prst="arc">
            <a:avLst>
              <a:gd name="adj1" fmla="val 10992073"/>
              <a:gd name="adj2" fmla="val 21349882"/>
            </a:avLst>
          </a:prstGeom>
          <a:ln w="38100">
            <a:solidFill>
              <a:srgbClr val="F77836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5" name="Rounded Rectangle 1114">
            <a:extLst>
              <a:ext uri="{FF2B5EF4-FFF2-40B4-BE49-F238E27FC236}">
                <a16:creationId xmlns:a16="http://schemas.microsoft.com/office/drawing/2014/main" id="{BA892D95-7C83-EE70-1800-2E79D2A367E6}"/>
              </a:ext>
            </a:extLst>
          </p:cNvPr>
          <p:cNvSpPr/>
          <p:nvPr/>
        </p:nvSpPr>
        <p:spPr>
          <a:xfrm>
            <a:off x="7054727" y="2657785"/>
            <a:ext cx="731318" cy="731318"/>
          </a:xfrm>
          <a:prstGeom prst="roundRect">
            <a:avLst/>
          </a:prstGeom>
          <a:solidFill>
            <a:srgbClr val="FF94A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48820B8D-EFB5-3959-3B6B-078835AF8D9E}"/>
              </a:ext>
            </a:extLst>
          </p:cNvPr>
          <p:cNvSpPr txBox="1"/>
          <p:nvPr/>
        </p:nvSpPr>
        <p:spPr>
          <a:xfrm>
            <a:off x="6953183" y="2701787"/>
            <a:ext cx="9223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Modular OO design supports new features</a:t>
            </a:r>
          </a:p>
        </p:txBody>
      </p:sp>
      <p:sp>
        <p:nvSpPr>
          <p:cNvPr id="1117" name="Rounded Rectangle 1116">
            <a:extLst>
              <a:ext uri="{FF2B5EF4-FFF2-40B4-BE49-F238E27FC236}">
                <a16:creationId xmlns:a16="http://schemas.microsoft.com/office/drawing/2014/main" id="{EF6EA0F1-7586-C095-2623-97F7587B2352}"/>
              </a:ext>
            </a:extLst>
          </p:cNvPr>
          <p:cNvSpPr/>
          <p:nvPr/>
        </p:nvSpPr>
        <p:spPr>
          <a:xfrm>
            <a:off x="2621396" y="5231549"/>
            <a:ext cx="731318" cy="731318"/>
          </a:xfrm>
          <a:prstGeom prst="roundRect">
            <a:avLst/>
          </a:prstGeom>
          <a:solidFill>
            <a:srgbClr val="FF94A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18" name="TextBox 1117">
            <a:extLst>
              <a:ext uri="{FF2B5EF4-FFF2-40B4-BE49-F238E27FC236}">
                <a16:creationId xmlns:a16="http://schemas.microsoft.com/office/drawing/2014/main" id="{7AFC4EB2-3795-41C5-D9F2-6C50224D7E1B}"/>
              </a:ext>
            </a:extLst>
          </p:cNvPr>
          <p:cNvSpPr txBox="1"/>
          <p:nvPr/>
        </p:nvSpPr>
        <p:spPr>
          <a:xfrm>
            <a:off x="2534437" y="5293108"/>
            <a:ext cx="9223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Scalable cloud system cheaper long term</a:t>
            </a:r>
          </a:p>
        </p:txBody>
      </p:sp>
      <p:sp>
        <p:nvSpPr>
          <p:cNvPr id="1128" name="Oval 1127">
            <a:extLst>
              <a:ext uri="{FF2B5EF4-FFF2-40B4-BE49-F238E27FC236}">
                <a16:creationId xmlns:a16="http://schemas.microsoft.com/office/drawing/2014/main" id="{8EF64A45-5134-EB9D-AA9C-E6E613AF851F}"/>
              </a:ext>
            </a:extLst>
          </p:cNvPr>
          <p:cNvSpPr/>
          <p:nvPr/>
        </p:nvSpPr>
        <p:spPr>
          <a:xfrm>
            <a:off x="8056709" y="6456979"/>
            <a:ext cx="257642" cy="257642"/>
          </a:xfrm>
          <a:prstGeom prst="ellipse">
            <a:avLst/>
          </a:prstGeom>
          <a:solidFill>
            <a:srgbClr val="FF94A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9" name="TextBox 1128">
            <a:extLst>
              <a:ext uri="{FF2B5EF4-FFF2-40B4-BE49-F238E27FC236}">
                <a16:creationId xmlns:a16="http://schemas.microsoft.com/office/drawing/2014/main" id="{6F324E95-57ED-8D45-3DDE-E8906E4C83FA}"/>
              </a:ext>
            </a:extLst>
          </p:cNvPr>
          <p:cNvSpPr txBox="1"/>
          <p:nvPr/>
        </p:nvSpPr>
        <p:spPr>
          <a:xfrm>
            <a:off x="8397098" y="6437622"/>
            <a:ext cx="25706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Sustainable technical infrastructure</a:t>
            </a:r>
          </a:p>
        </p:txBody>
      </p:sp>
      <p:cxnSp>
        <p:nvCxnSpPr>
          <p:cNvPr id="1138" name="Curved Connector 1137">
            <a:extLst>
              <a:ext uri="{FF2B5EF4-FFF2-40B4-BE49-F238E27FC236}">
                <a16:creationId xmlns:a16="http://schemas.microsoft.com/office/drawing/2014/main" id="{C5A3DB44-DE1E-554B-2780-7166E78523B2}"/>
              </a:ext>
            </a:extLst>
          </p:cNvPr>
          <p:cNvCxnSpPr>
            <a:cxnSpLocks/>
            <a:stCxn id="1103" idx="0"/>
          </p:cNvCxnSpPr>
          <p:nvPr/>
        </p:nvCxnSpPr>
        <p:spPr>
          <a:xfrm rot="5400000" flipH="1" flipV="1">
            <a:off x="6737531" y="2763556"/>
            <a:ext cx="171016" cy="447274"/>
          </a:xfrm>
          <a:prstGeom prst="curved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3" name="Rounded Rectangle 1102">
            <a:extLst>
              <a:ext uri="{FF2B5EF4-FFF2-40B4-BE49-F238E27FC236}">
                <a16:creationId xmlns:a16="http://schemas.microsoft.com/office/drawing/2014/main" id="{B12E0C61-AD43-15AC-D46F-3F0700C78314}"/>
              </a:ext>
            </a:extLst>
          </p:cNvPr>
          <p:cNvSpPr/>
          <p:nvPr/>
        </p:nvSpPr>
        <p:spPr>
          <a:xfrm>
            <a:off x="6233743" y="3072701"/>
            <a:ext cx="731318" cy="731318"/>
          </a:xfrm>
          <a:prstGeom prst="roundRect">
            <a:avLst/>
          </a:prstGeom>
          <a:solidFill>
            <a:srgbClr val="FF94A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04" name="TextBox 1103">
            <a:extLst>
              <a:ext uri="{FF2B5EF4-FFF2-40B4-BE49-F238E27FC236}">
                <a16:creationId xmlns:a16="http://schemas.microsoft.com/office/drawing/2014/main" id="{09847766-729C-440D-2C81-2424F6346083}"/>
              </a:ext>
            </a:extLst>
          </p:cNvPr>
          <p:cNvSpPr txBox="1"/>
          <p:nvPr/>
        </p:nvSpPr>
        <p:spPr>
          <a:xfrm>
            <a:off x="6145963" y="3252775"/>
            <a:ext cx="922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Minimal data collection</a:t>
            </a:r>
          </a:p>
        </p:txBody>
      </p:sp>
      <p:pic>
        <p:nvPicPr>
          <p:cNvPr id="39" name="Picture 38" descr="A blue text with icicles and snow&#10;&#10;AI-generated content may be incorrect.">
            <a:extLst>
              <a:ext uri="{FF2B5EF4-FFF2-40B4-BE49-F238E27FC236}">
                <a16:creationId xmlns:a16="http://schemas.microsoft.com/office/drawing/2014/main" id="{F06B78FA-62D5-F8C9-31CA-0B2F53275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487" y="3085039"/>
            <a:ext cx="2651003" cy="1050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230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124</Words>
  <Application>Microsoft Macintosh PowerPoint</Application>
  <PresentationFormat>Widescreen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 May</dc:creator>
  <cp:lastModifiedBy>Jack May</cp:lastModifiedBy>
  <cp:revision>2</cp:revision>
  <dcterms:created xsi:type="dcterms:W3CDTF">2025-05-07T18:51:09Z</dcterms:created>
  <dcterms:modified xsi:type="dcterms:W3CDTF">2025-05-07T20:49:26Z</dcterms:modified>
</cp:coreProperties>
</file>