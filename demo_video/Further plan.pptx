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64" r:id="rId2"/>
    <p:sldId id="263" r:id="rId3"/>
    <p:sldId id="265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46EF"/>
    <a:srgbClr val="A7BAF8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1"/>
    <p:restoredTop sz="96242" autoAdjust="0"/>
  </p:normalViewPr>
  <p:slideViewPr>
    <p:cSldViewPr snapToGrid="0">
      <p:cViewPr>
        <p:scale>
          <a:sx n="100" d="100"/>
          <a:sy n="100" d="100"/>
        </p:scale>
        <p:origin x="95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5A11E2-50AA-A540-821C-DCBF30900C5C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6EB1D-0764-4843-ACA5-2705BDBB17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5353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6EB1D-0764-4843-ACA5-2705BDBB174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367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66EB1D-0764-4843-ACA5-2705BDBB17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95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CE49C-CF9F-39AA-B8EE-8FAF683FFC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A4185-EC9F-2B18-91A6-1AE40CF2B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B37D6-63E7-60BD-C9FA-AEBEC9C1D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2C674-25C5-C333-A41D-5803671CD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173DC-1D6C-FED5-3AE9-1DAAD9112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7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4B73-D683-3C9B-3567-55B9B807A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18F27-05BA-72AB-1B4A-BD9632DE3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07BB2-6642-E1A4-A6A6-0E3BF7A08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9FBA3-FBE7-99FB-C190-A0AFBF9F4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054C5-A4A3-6AE1-70F4-7DF1FBB6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6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E5BB3-B3FA-0281-6086-1C1B372DC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A94907-0755-8F7A-B58F-624A0B9D4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F5D60-07D9-B1D1-EB8F-D9980F16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E01E-CF73-9931-49F5-548020006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40972-8CDC-AB85-0ACF-17FD5F4CC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241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7050-3AD4-2321-A2E8-FAF70C641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3E29-6AF3-D6D0-8C93-FED9DC53CD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76667-40C3-59B1-F50A-ECC5CAB77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ED350-E0BF-A339-1AA5-EAB727BEE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A9E2AB-526D-0B25-0AE8-8A742CBA2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41728-4073-450E-CF5F-DD89775CD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17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0B0F3-1D83-A4CA-6AE6-5EAC502A5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AB95C-46AC-4BA5-A2A1-46027F5DA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A6A9D0-926C-74B0-BEF7-DA7D5A865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776CA8-BB03-DD53-2AB2-30F9144C9E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081590-8F53-15D6-03BC-C2C30E6478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21F97D-F910-6739-0189-74932C048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E80180-AD2E-DC8C-C907-B1D207465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CFD20D-964D-2BDB-64C7-7842E8194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106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4FA3C-D7E6-20DC-9175-20BCD17FC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3DE38E-8DC8-DB43-5B7C-D30524927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A1B4F2-884F-49CC-6209-60A39D554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D9C49-13E3-9CF6-4B89-ED718DB2A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2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43651B-E18A-97C7-D47F-4662206E3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761577-A181-12D6-E1C3-BF7F5FA71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2E273-90AB-DF8A-C445-8A414E4D7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9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D822-15D3-C577-3BDC-07C282EEA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2F3DF-BDA1-849B-E1EB-0082652E78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A24C3-FC58-6C58-7042-182352FF5D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5D2ADF-C77A-907C-563F-ED587BDA8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8BB88E-CB5B-9048-A1B3-641B08C83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FA7FE6-EB7A-AF9F-58E2-1060A51D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9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B2B4-A5C4-3156-C6C4-E79DCCEF2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B81C5-2D35-23BA-8AAB-3270B57C5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8F4B1-75A9-FDA5-38A0-E9004D40FC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14F3A6-35E9-910E-7AE3-2818844F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4F3139-2A24-468D-94C6-933091CA4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AB195-07DA-DBD1-337A-0C3F5132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2312-10A8-9F42-7F05-DBFB16590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DB2181-FE1C-D83C-3DDD-79CF7B7E0C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94EED-118E-205C-83ED-23C184AA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80D05-7211-4C8C-FD9F-0E175265A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ACC58-D55B-61A0-E0B6-290E3CCD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982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00E436-DB07-39B2-7EF6-DFB676C3AA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8912D7-297C-7562-6C31-1C646A42A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4E7EB-4FC7-4D11-DCB1-ABDEBD9FB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0F6DB-5DE8-6329-DD35-1A4AFE1BB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1A547A-D97B-4551-D838-9DA4F1BE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8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A4D0E7-ABA4-38B9-E656-BA8498B1D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6561EB-F521-12C9-375A-63AB9896B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58B9D-DC28-E047-ABF3-CE2C115768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DAE668-92A1-3A47-8E9A-585AE3376971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27427B-B7C1-60DD-DE7D-FDD9DA23A2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0B87C-1230-EF9C-7DF3-B0F293D900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BD92F-CE66-FD42-A443-A45A26D34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333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DF098354-2B47-4CCE-8F1B-48DE2D90B96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6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TextBox 11">
            <a:extLst>
              <a:ext uri="{FF2B5EF4-FFF2-40B4-BE49-F238E27FC236}">
                <a16:creationId xmlns:a16="http://schemas.microsoft.com/office/drawing/2014/main" id="{9FC94577-1FA3-11D4-9AC6-F7ADD7436B92}"/>
              </a:ext>
            </a:extLst>
          </p:cNvPr>
          <p:cNvSpPr txBox="1"/>
          <p:nvPr/>
        </p:nvSpPr>
        <p:spPr>
          <a:xfrm>
            <a:off x="2254165" y="2705725"/>
            <a:ext cx="768367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400" b="1" dirty="0">
                <a:solidFill>
                  <a:schemeClr val="bg1"/>
                </a:solidFill>
                <a:effectLst/>
                <a:latin typeface="Franklin Gothic Heavy" panose="020B0903020102020204" pitchFamily="34" charset="0"/>
                <a:ea typeface="ADLaM Display" panose="020B0604020202020204" pitchFamily="2" charset="0"/>
                <a:cs typeface="ADLaM Display" panose="020B0604020202020204" pitchFamily="2" charset="0"/>
              </a:rPr>
              <a:t>We want to keep working on </a:t>
            </a:r>
            <a:r>
              <a:rPr lang="en-AU" altLang="zh-TW" sz="4400" b="1" dirty="0" err="1">
                <a:solidFill>
                  <a:schemeClr val="bg1"/>
                </a:solidFill>
                <a:effectLst/>
                <a:latin typeface="Franklin Gothic Heavy" panose="020B0903020102020204" pitchFamily="34" charset="0"/>
                <a:ea typeface="ADLaM Display" panose="020B0604020202020204" pitchFamily="2" charset="0"/>
                <a:cs typeface="ADLaM Display" panose="020B0604020202020204" pitchFamily="2" charset="0"/>
              </a:rPr>
              <a:t>PengWings</a:t>
            </a:r>
            <a:endParaRPr lang="en-AU" sz="4400" b="1" dirty="0">
              <a:solidFill>
                <a:schemeClr val="bg1"/>
              </a:solidFill>
              <a:effectLst/>
              <a:latin typeface="Franklin Gothic Heavy" panose="020B0903020102020204" pitchFamily="34" charset="0"/>
              <a:ea typeface="ADLaM Display" panose="020B0604020202020204" pitchFamily="2" charset="0"/>
              <a:cs typeface="ADLaM Display" panose="020B060402020202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028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4" dur="2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4642631-4DE2-31FC-059E-A2F88DE77BB3}"/>
              </a:ext>
            </a:extLst>
          </p:cNvPr>
          <p:cNvSpPr/>
          <p:nvPr/>
        </p:nvSpPr>
        <p:spPr>
          <a:xfrm>
            <a:off x="0" y="0"/>
            <a:ext cx="3399008" cy="6858000"/>
          </a:xfrm>
          <a:prstGeom prst="rect">
            <a:avLst/>
          </a:prstGeom>
          <a:solidFill>
            <a:srgbClr val="1E46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2237A4B1-0EB4-BA7F-ACD6-716E7B5FBE80}"/>
              </a:ext>
            </a:extLst>
          </p:cNvPr>
          <p:cNvSpPr txBox="1"/>
          <p:nvPr/>
        </p:nvSpPr>
        <p:spPr>
          <a:xfrm>
            <a:off x="6735" y="2828835"/>
            <a:ext cx="32593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Product </a:t>
            </a:r>
          </a:p>
          <a:p>
            <a:pPr algn="ctr"/>
            <a:r>
              <a:rPr lang="en-AU" sz="3600" b="1" dirty="0">
                <a:solidFill>
                  <a:schemeClr val="bg1"/>
                </a:solidFill>
                <a:effectLst/>
                <a:latin typeface="Franklin Gothic Demi Cond" panose="020B0706030402020204" pitchFamily="34" charset="0"/>
              </a:rPr>
              <a:t>Strategy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89D34C-EACF-9404-F311-0B58D7DF3550}"/>
              </a:ext>
            </a:extLst>
          </p:cNvPr>
          <p:cNvSpPr/>
          <p:nvPr/>
        </p:nvSpPr>
        <p:spPr>
          <a:xfrm>
            <a:off x="139700" y="-736600"/>
            <a:ext cx="469900" cy="469900"/>
          </a:xfrm>
          <a:prstGeom prst="rect">
            <a:avLst/>
          </a:prstGeom>
          <a:solidFill>
            <a:srgbClr val="1E46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73AFA2-B457-44D2-FB2B-8535429FB4D8}"/>
              </a:ext>
            </a:extLst>
          </p:cNvPr>
          <p:cNvSpPr/>
          <p:nvPr/>
        </p:nvSpPr>
        <p:spPr>
          <a:xfrm>
            <a:off x="914400" y="-736600"/>
            <a:ext cx="469900" cy="4699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ED9061-0F57-7ECA-74F4-A2616B4F014A}"/>
              </a:ext>
            </a:extLst>
          </p:cNvPr>
          <p:cNvSpPr/>
          <p:nvPr/>
        </p:nvSpPr>
        <p:spPr>
          <a:xfrm>
            <a:off x="1636389" y="-736600"/>
            <a:ext cx="469900" cy="469900"/>
          </a:xfrm>
          <a:prstGeom prst="rect">
            <a:avLst/>
          </a:prstGeom>
          <a:solidFill>
            <a:srgbClr val="A7BA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5FF1AB8C-7F24-BAF3-AD5C-3CC390294786}"/>
              </a:ext>
            </a:extLst>
          </p:cNvPr>
          <p:cNvGrpSpPr/>
          <p:nvPr/>
        </p:nvGrpSpPr>
        <p:grpSpPr>
          <a:xfrm>
            <a:off x="4427187" y="651710"/>
            <a:ext cx="6293571" cy="1569660"/>
            <a:chOff x="4427187" y="651710"/>
            <a:chExt cx="6293571" cy="1569660"/>
          </a:xfrm>
        </p:grpSpPr>
        <p:grpSp>
          <p:nvGrpSpPr>
            <p:cNvPr id="24" name="群組 23">
              <a:extLst>
                <a:ext uri="{FF2B5EF4-FFF2-40B4-BE49-F238E27FC236}">
                  <a16:creationId xmlns:a16="http://schemas.microsoft.com/office/drawing/2014/main" id="{864E280B-2A27-F34A-73A8-E18D07AD9679}"/>
                </a:ext>
              </a:extLst>
            </p:cNvPr>
            <p:cNvGrpSpPr/>
            <p:nvPr/>
          </p:nvGrpSpPr>
          <p:grpSpPr>
            <a:xfrm>
              <a:off x="6023175" y="742514"/>
              <a:ext cx="4697583" cy="1388053"/>
              <a:chOff x="5863518" y="587224"/>
              <a:chExt cx="4697583" cy="1388053"/>
            </a:xfrm>
          </p:grpSpPr>
          <p:sp>
            <p:nvSpPr>
              <p:cNvPr id="7" name="TextBox 11">
                <a:extLst>
                  <a:ext uri="{FF2B5EF4-FFF2-40B4-BE49-F238E27FC236}">
                    <a16:creationId xmlns:a16="http://schemas.microsoft.com/office/drawing/2014/main" id="{E2B21C77-C4CF-FB5C-D211-A96E4D25E50D}"/>
                  </a:ext>
                </a:extLst>
              </p:cNvPr>
              <p:cNvSpPr txBox="1"/>
              <p:nvPr/>
            </p:nvSpPr>
            <p:spPr>
              <a:xfrm>
                <a:off x="5863518" y="1021170"/>
                <a:ext cx="428302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/>
                  <a:t>To align our product with market demand, we aim to gather user insights. We will integrate third-party analytics tools and launch our game on established gaming platforms to leverage their existing user traffic. </a:t>
                </a:r>
                <a:endParaRPr lang="en-AU" sz="1400" dirty="0">
                  <a:effectLst/>
                  <a:latin typeface="Franklin Gothic Book" panose="020B0503020102020204" pitchFamily="34" charset="0"/>
                </a:endParaRPr>
              </a:p>
            </p:txBody>
          </p:sp>
          <p:sp>
            <p:nvSpPr>
              <p:cNvPr id="9" name="TextBox 11">
                <a:extLst>
                  <a:ext uri="{FF2B5EF4-FFF2-40B4-BE49-F238E27FC236}">
                    <a16:creationId xmlns:a16="http://schemas.microsoft.com/office/drawing/2014/main" id="{2C095151-9045-09B1-D8C3-A7BB02F20D39}"/>
                  </a:ext>
                </a:extLst>
              </p:cNvPr>
              <p:cNvSpPr txBox="1"/>
              <p:nvPr/>
            </p:nvSpPr>
            <p:spPr>
              <a:xfrm>
                <a:off x="5863518" y="587224"/>
                <a:ext cx="4697583" cy="369332"/>
              </a:xfrm>
              <a:prstGeom prst="rect">
                <a:avLst/>
              </a:prstGeom>
              <a:noFill/>
              <a:effectLst>
                <a:outerShdw blurRad="50800" dist="38100" dir="5400000" algn="t" rotWithShape="0">
                  <a:schemeClr val="tx1">
                    <a:lumMod val="65000"/>
                    <a:lumOff val="35000"/>
                    <a:alpha val="25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>
                    <a:effectLst/>
                    <a:latin typeface="Franklin Gothic Demi" panose="020B0703020102020204" pitchFamily="34" charset="0"/>
                  </a:defRPr>
                </a:lvl1pPr>
              </a:lstStyle>
              <a:p>
                <a:r>
                  <a:rPr lang="en-US" altLang="zh-TW" sz="1800" dirty="0"/>
                  <a:t>Platform Integration &amp; Data Acquisition</a:t>
                </a:r>
                <a:endParaRPr lang="en-AU" sz="1800" dirty="0"/>
              </a:p>
            </p:txBody>
          </p:sp>
        </p:grpSp>
        <p:sp>
          <p:nvSpPr>
            <p:cNvPr id="19" name="TextBox 11">
              <a:extLst>
                <a:ext uri="{FF2B5EF4-FFF2-40B4-BE49-F238E27FC236}">
                  <a16:creationId xmlns:a16="http://schemas.microsoft.com/office/drawing/2014/main" id="{688C7A43-25AD-EB60-FB68-BD2C7486EE0F}"/>
                </a:ext>
              </a:extLst>
            </p:cNvPr>
            <p:cNvSpPr txBox="1"/>
            <p:nvPr/>
          </p:nvSpPr>
          <p:spPr>
            <a:xfrm>
              <a:off x="4427187" y="651710"/>
              <a:ext cx="1044700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rgbClr val="1E46EF">
                  <a:alpha val="25000"/>
                </a:srgb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>
                  <a:effectLst/>
                  <a:latin typeface="Franklin Gothic Demi" panose="020B0703020102020204" pitchFamily="34" charset="0"/>
                </a:defRPr>
              </a:lvl1pPr>
            </a:lstStyle>
            <a:p>
              <a:r>
                <a:rPr lang="en-US" altLang="zh-TW" sz="9600" dirty="0">
                  <a:solidFill>
                    <a:srgbClr val="A7BAF8"/>
                  </a:solidFill>
                </a:rPr>
                <a:t>1</a:t>
              </a:r>
              <a:endParaRPr lang="en-AU" sz="9600" dirty="0">
                <a:solidFill>
                  <a:srgbClr val="A7BAF8"/>
                </a:solidFill>
              </a:endParaRPr>
            </a:p>
          </p:txBody>
        </p: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6F4B4A23-768C-F676-6DDA-C1CC24B260EE}"/>
              </a:ext>
            </a:extLst>
          </p:cNvPr>
          <p:cNvGrpSpPr/>
          <p:nvPr/>
        </p:nvGrpSpPr>
        <p:grpSpPr>
          <a:xfrm>
            <a:off x="4427187" y="2644169"/>
            <a:ext cx="5760170" cy="1569660"/>
            <a:chOff x="4427187" y="2644169"/>
            <a:chExt cx="5760170" cy="1569660"/>
          </a:xfrm>
        </p:grpSpPr>
        <p:grpSp>
          <p:nvGrpSpPr>
            <p:cNvPr id="25" name="群組 24">
              <a:extLst>
                <a:ext uri="{FF2B5EF4-FFF2-40B4-BE49-F238E27FC236}">
                  <a16:creationId xmlns:a16="http://schemas.microsoft.com/office/drawing/2014/main" id="{9E849F97-1727-292E-A4A0-F6E5377B7AC9}"/>
                </a:ext>
              </a:extLst>
            </p:cNvPr>
            <p:cNvGrpSpPr/>
            <p:nvPr/>
          </p:nvGrpSpPr>
          <p:grpSpPr>
            <a:xfrm>
              <a:off x="6023175" y="2842694"/>
              <a:ext cx="4164182" cy="1172610"/>
              <a:chOff x="10261346" y="587224"/>
              <a:chExt cx="4164182" cy="1172610"/>
            </a:xfrm>
          </p:grpSpPr>
          <p:sp>
            <p:nvSpPr>
              <p:cNvPr id="8" name="TextBox 11">
                <a:extLst>
                  <a:ext uri="{FF2B5EF4-FFF2-40B4-BE49-F238E27FC236}">
                    <a16:creationId xmlns:a16="http://schemas.microsoft.com/office/drawing/2014/main" id="{A73E9B46-FFAB-7B23-E454-5E45D3DCFCA0}"/>
                  </a:ext>
                </a:extLst>
              </p:cNvPr>
              <p:cNvSpPr txBox="1"/>
              <p:nvPr/>
            </p:nvSpPr>
            <p:spPr>
              <a:xfrm>
                <a:off x="10261346" y="1021170"/>
                <a:ext cx="380540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1600"/>
                </a:lvl1pPr>
              </a:lstStyle>
              <a:p>
                <a:r>
                  <a:rPr lang="en-US" altLang="zh-TW" sz="1400" dirty="0"/>
                  <a:t>Once we have collected sufficient data, we will begin iterative development based on real-world usage and behavioral insights.</a:t>
                </a:r>
                <a:endParaRPr lang="en-AU" sz="1400" dirty="0"/>
              </a:p>
            </p:txBody>
          </p:sp>
          <p:sp>
            <p:nvSpPr>
              <p:cNvPr id="10" name="TextBox 11">
                <a:extLst>
                  <a:ext uri="{FF2B5EF4-FFF2-40B4-BE49-F238E27FC236}">
                    <a16:creationId xmlns:a16="http://schemas.microsoft.com/office/drawing/2014/main" id="{B94B32D2-F535-9E13-2CAE-F241F77636B0}"/>
                  </a:ext>
                </a:extLst>
              </p:cNvPr>
              <p:cNvSpPr txBox="1"/>
              <p:nvPr/>
            </p:nvSpPr>
            <p:spPr>
              <a:xfrm>
                <a:off x="10261346" y="587224"/>
                <a:ext cx="4164182" cy="369332"/>
              </a:xfrm>
              <a:prstGeom prst="rect">
                <a:avLst/>
              </a:prstGeom>
              <a:noFill/>
              <a:effectLst>
                <a:outerShdw blurRad="50800" dist="38100" dir="5400000" algn="t" rotWithShape="0">
                  <a:schemeClr val="tx1">
                    <a:lumMod val="65000"/>
                    <a:lumOff val="35000"/>
                    <a:alpha val="25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>
                    <a:effectLst/>
                    <a:latin typeface="Franklin Gothic Demi" panose="020B0703020102020204" pitchFamily="34" charset="0"/>
                  </a:defRPr>
                </a:lvl1pPr>
              </a:lstStyle>
              <a:p>
                <a:r>
                  <a:rPr lang="en-US" altLang="zh-TW" sz="1800" dirty="0"/>
                  <a:t>Product Iteration &amp; User Feedback</a:t>
                </a:r>
                <a:endParaRPr lang="en-AU" sz="1800" dirty="0"/>
              </a:p>
            </p:txBody>
          </p:sp>
        </p:grpSp>
        <p:sp>
          <p:nvSpPr>
            <p:cNvPr id="21" name="TextBox 11">
              <a:extLst>
                <a:ext uri="{FF2B5EF4-FFF2-40B4-BE49-F238E27FC236}">
                  <a16:creationId xmlns:a16="http://schemas.microsoft.com/office/drawing/2014/main" id="{896214A0-D596-7837-6D36-5C5072405D37}"/>
                </a:ext>
              </a:extLst>
            </p:cNvPr>
            <p:cNvSpPr txBox="1"/>
            <p:nvPr/>
          </p:nvSpPr>
          <p:spPr>
            <a:xfrm>
              <a:off x="4427187" y="2644169"/>
              <a:ext cx="1044700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rgbClr val="1E46EF">
                  <a:alpha val="25000"/>
                </a:srgb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>
                  <a:effectLst/>
                  <a:latin typeface="Franklin Gothic Demi" panose="020B0703020102020204" pitchFamily="34" charset="0"/>
                </a:defRPr>
              </a:lvl1pPr>
            </a:lstStyle>
            <a:p>
              <a:r>
                <a:rPr lang="en-US" altLang="zh-TW" sz="9600" dirty="0">
                  <a:solidFill>
                    <a:srgbClr val="A7BAF8"/>
                  </a:solidFill>
                </a:rPr>
                <a:t>2</a:t>
              </a:r>
              <a:endParaRPr lang="en-AU" sz="9600" dirty="0">
                <a:solidFill>
                  <a:srgbClr val="A7BAF8"/>
                </a:solidFill>
              </a:endParaRPr>
            </a:p>
          </p:txBody>
        </p:sp>
      </p:grp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330497C5-13C9-AC8D-274B-93C0BC0A7E2D}"/>
              </a:ext>
            </a:extLst>
          </p:cNvPr>
          <p:cNvGrpSpPr/>
          <p:nvPr/>
        </p:nvGrpSpPr>
        <p:grpSpPr>
          <a:xfrm>
            <a:off x="4427187" y="4636628"/>
            <a:ext cx="7000176" cy="1569660"/>
            <a:chOff x="4427187" y="4636628"/>
            <a:chExt cx="7000176" cy="1569660"/>
          </a:xfrm>
        </p:grpSpPr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6DAD5F7E-4BE6-779B-AB08-7378F980A1F1}"/>
                </a:ext>
              </a:extLst>
            </p:cNvPr>
            <p:cNvGrpSpPr/>
            <p:nvPr/>
          </p:nvGrpSpPr>
          <p:grpSpPr>
            <a:xfrm>
              <a:off x="6023175" y="4727432"/>
              <a:ext cx="5404188" cy="1388053"/>
              <a:chOff x="13970456" y="587224"/>
              <a:chExt cx="5404188" cy="1388053"/>
            </a:xfrm>
          </p:grpSpPr>
          <p:sp>
            <p:nvSpPr>
              <p:cNvPr id="11" name="TextBox 11">
                <a:extLst>
                  <a:ext uri="{FF2B5EF4-FFF2-40B4-BE49-F238E27FC236}">
                    <a16:creationId xmlns:a16="http://schemas.microsoft.com/office/drawing/2014/main" id="{96308105-5CE9-D2F7-FF2C-A447E83C2C26}"/>
                  </a:ext>
                </a:extLst>
              </p:cNvPr>
              <p:cNvSpPr txBox="1"/>
              <p:nvPr/>
            </p:nvSpPr>
            <p:spPr>
              <a:xfrm>
                <a:off x="13970456" y="1021170"/>
                <a:ext cx="4764768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sz="1400" dirty="0"/>
                  <a:t>Upon validating initial revenue potential, we will formally establish our company. Concurrently, we will define our business models, structure internal operations, and allocate resources effectively to support scalable growth.</a:t>
                </a:r>
                <a:endParaRPr lang="en-AU" sz="1400" dirty="0">
                  <a:effectLst/>
                  <a:latin typeface="Franklin Gothic Book" panose="020B0503020102020204" pitchFamily="34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831FA9-7915-3802-7355-77B291CAE011}"/>
                  </a:ext>
                </a:extLst>
              </p:cNvPr>
              <p:cNvSpPr txBox="1"/>
              <p:nvPr/>
            </p:nvSpPr>
            <p:spPr>
              <a:xfrm>
                <a:off x="13970456" y="587224"/>
                <a:ext cx="5404188" cy="369332"/>
              </a:xfrm>
              <a:prstGeom prst="rect">
                <a:avLst/>
              </a:prstGeom>
              <a:noFill/>
              <a:effectLst>
                <a:outerShdw blurRad="50800" dist="38100" dir="5400000" algn="t" rotWithShape="0">
                  <a:schemeClr val="tx1">
                    <a:lumMod val="65000"/>
                    <a:lumOff val="35000"/>
                    <a:alpha val="25000"/>
                  </a:schemeClr>
                </a:outerShdw>
              </a:effectLst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>
                  <a:defRPr sz="2000" b="1">
                    <a:effectLst/>
                    <a:latin typeface="Franklin Gothic Demi" panose="020B0703020102020204" pitchFamily="34" charset="0"/>
                  </a:defRPr>
                </a:lvl1pPr>
              </a:lstStyle>
              <a:p>
                <a:r>
                  <a:rPr lang="en-US" altLang="zh-TW" sz="1800" dirty="0"/>
                  <a:t>Business Development &amp; Company Formation</a:t>
                </a:r>
                <a:endParaRPr lang="en-AU" sz="1800" dirty="0"/>
              </a:p>
            </p:txBody>
          </p:sp>
        </p:grpSp>
        <p:sp>
          <p:nvSpPr>
            <p:cNvPr id="22" name="TextBox 11">
              <a:extLst>
                <a:ext uri="{FF2B5EF4-FFF2-40B4-BE49-F238E27FC236}">
                  <a16:creationId xmlns:a16="http://schemas.microsoft.com/office/drawing/2014/main" id="{9CBAB0B5-519F-DC01-EF06-426AECB3E334}"/>
                </a:ext>
              </a:extLst>
            </p:cNvPr>
            <p:cNvSpPr txBox="1"/>
            <p:nvPr/>
          </p:nvSpPr>
          <p:spPr>
            <a:xfrm>
              <a:off x="4427187" y="4636628"/>
              <a:ext cx="1044700" cy="156966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srgbClr val="1E46EF">
                  <a:alpha val="25000"/>
                </a:srgbClr>
              </a:outerShdw>
            </a:effectLst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>
                <a:defRPr sz="2000" b="1">
                  <a:effectLst/>
                  <a:latin typeface="Franklin Gothic Demi" panose="020B0703020102020204" pitchFamily="34" charset="0"/>
                </a:defRPr>
              </a:lvl1pPr>
            </a:lstStyle>
            <a:p>
              <a:r>
                <a:rPr lang="en-US" altLang="zh-TW" sz="9600" dirty="0">
                  <a:solidFill>
                    <a:srgbClr val="A7BAF8"/>
                  </a:solidFill>
                </a:rPr>
                <a:t>3</a:t>
              </a:r>
              <a:endParaRPr lang="en-AU" sz="9600" dirty="0">
                <a:solidFill>
                  <a:srgbClr val="A7BAF8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9709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6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11">
            <a:extLst>
              <a:ext uri="{FF2B5EF4-FFF2-40B4-BE49-F238E27FC236}">
                <a16:creationId xmlns:a16="http://schemas.microsoft.com/office/drawing/2014/main" id="{2237A4B1-0EB4-BA7F-ACD6-716E7B5FBE80}"/>
              </a:ext>
            </a:extLst>
          </p:cNvPr>
          <p:cNvSpPr txBox="1"/>
          <p:nvPr/>
        </p:nvSpPr>
        <p:spPr>
          <a:xfrm>
            <a:off x="3670405" y="651710"/>
            <a:ext cx="4842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b="1" dirty="0">
                <a:effectLst/>
                <a:latin typeface="Franklin Gothic Demi Cond" panose="020B0706030402020204" pitchFamily="34" charset="0"/>
              </a:rPr>
              <a:t>Product </a:t>
            </a:r>
            <a:r>
              <a:rPr lang="en-AU" sz="3600" b="1" dirty="0">
                <a:solidFill>
                  <a:srgbClr val="1E46EF"/>
                </a:solidFill>
                <a:effectLst/>
                <a:latin typeface="Franklin Gothic Demi Cond" panose="020B0706030402020204" pitchFamily="34" charset="0"/>
              </a:rPr>
              <a:t>Roadmap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89D34C-EACF-9404-F311-0B58D7DF3550}"/>
              </a:ext>
            </a:extLst>
          </p:cNvPr>
          <p:cNvSpPr/>
          <p:nvPr/>
        </p:nvSpPr>
        <p:spPr>
          <a:xfrm>
            <a:off x="139700" y="-736600"/>
            <a:ext cx="469900" cy="469900"/>
          </a:xfrm>
          <a:prstGeom prst="rect">
            <a:avLst/>
          </a:prstGeom>
          <a:solidFill>
            <a:srgbClr val="1E46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B73AFA2-B457-44D2-FB2B-8535429FB4D8}"/>
              </a:ext>
            </a:extLst>
          </p:cNvPr>
          <p:cNvSpPr/>
          <p:nvPr/>
        </p:nvSpPr>
        <p:spPr>
          <a:xfrm>
            <a:off x="914400" y="-736600"/>
            <a:ext cx="469900" cy="4699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ED9061-0F57-7ECA-74F4-A2616B4F014A}"/>
              </a:ext>
            </a:extLst>
          </p:cNvPr>
          <p:cNvSpPr/>
          <p:nvPr/>
        </p:nvSpPr>
        <p:spPr>
          <a:xfrm>
            <a:off x="1636389" y="-736600"/>
            <a:ext cx="469900" cy="469900"/>
          </a:xfrm>
          <a:prstGeom prst="rect">
            <a:avLst/>
          </a:prstGeom>
          <a:solidFill>
            <a:srgbClr val="A7BA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18E59D2-9EEA-D18B-596F-6974F5ABC2BD}"/>
              </a:ext>
            </a:extLst>
          </p:cNvPr>
          <p:cNvSpPr/>
          <p:nvPr/>
        </p:nvSpPr>
        <p:spPr>
          <a:xfrm>
            <a:off x="1365680" y="2006438"/>
            <a:ext cx="2230263" cy="440817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TextBox 11">
            <a:extLst>
              <a:ext uri="{FF2B5EF4-FFF2-40B4-BE49-F238E27FC236}">
                <a16:creationId xmlns:a16="http://schemas.microsoft.com/office/drawing/2014/main" id="{73D59B70-AA9B-618E-AFF9-3AD290DFF91A}"/>
              </a:ext>
            </a:extLst>
          </p:cNvPr>
          <p:cNvSpPr txBox="1"/>
          <p:nvPr/>
        </p:nvSpPr>
        <p:spPr>
          <a:xfrm>
            <a:off x="1940512" y="1535506"/>
            <a:ext cx="1093114" cy="369332"/>
          </a:xfrm>
          <a:prstGeom prst="rect">
            <a:avLst/>
          </a:prstGeom>
          <a:noFill/>
          <a:effectLst>
            <a:outerShdw blurRad="12700" dist="38100" dir="2700000" algn="tl" rotWithShape="0">
              <a:srgbClr val="1E46EF">
                <a:alpha val="5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E46EF"/>
                </a:solidFill>
                <a:effectLst/>
                <a:latin typeface="Franklin Gothic Demi" panose="020B0703020102020204" pitchFamily="34" charset="0"/>
              </a:defRPr>
            </a:lvl1pPr>
          </a:lstStyle>
          <a:p>
            <a:r>
              <a:rPr lang="en-US" altLang="zh-TW" dirty="0"/>
              <a:t>Q3 2025</a:t>
            </a:r>
            <a:endParaRPr lang="en-AU" dirty="0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D1B95350-1B08-F758-F079-79FACC6CCC09}"/>
              </a:ext>
            </a:extLst>
          </p:cNvPr>
          <p:cNvSpPr/>
          <p:nvPr/>
        </p:nvSpPr>
        <p:spPr>
          <a:xfrm>
            <a:off x="3640386" y="2000565"/>
            <a:ext cx="2230263" cy="440817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5CF5661E-5115-5C37-87D7-3F444719AB99}"/>
              </a:ext>
            </a:extLst>
          </p:cNvPr>
          <p:cNvSpPr txBox="1"/>
          <p:nvPr/>
        </p:nvSpPr>
        <p:spPr>
          <a:xfrm>
            <a:off x="4206949" y="1535506"/>
            <a:ext cx="1093114" cy="369332"/>
          </a:xfrm>
          <a:prstGeom prst="rect">
            <a:avLst/>
          </a:prstGeom>
          <a:noFill/>
          <a:effectLst>
            <a:outerShdw blurRad="12700" dist="38100" dir="2700000" algn="tl" rotWithShape="0">
              <a:srgbClr val="1E46EF">
                <a:alpha val="5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E46EF"/>
                </a:solidFill>
                <a:effectLst/>
                <a:latin typeface="Franklin Gothic Demi" panose="020B0703020102020204" pitchFamily="34" charset="0"/>
              </a:defRPr>
            </a:lvl1pPr>
          </a:lstStyle>
          <a:p>
            <a:r>
              <a:rPr lang="en-US" altLang="zh-TW" dirty="0"/>
              <a:t>Q4 2025</a:t>
            </a:r>
            <a:endParaRPr lang="en-AU" dirty="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9BF3F5E-2DBB-AEBD-FEBC-D996AC891922}"/>
              </a:ext>
            </a:extLst>
          </p:cNvPr>
          <p:cNvSpPr/>
          <p:nvPr/>
        </p:nvSpPr>
        <p:spPr>
          <a:xfrm>
            <a:off x="5918153" y="2000565"/>
            <a:ext cx="2230263" cy="440817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TextBox 11">
            <a:extLst>
              <a:ext uri="{FF2B5EF4-FFF2-40B4-BE49-F238E27FC236}">
                <a16:creationId xmlns:a16="http://schemas.microsoft.com/office/drawing/2014/main" id="{DE6D9EBA-3D6A-3F64-755D-A3F5A52D35A9}"/>
              </a:ext>
            </a:extLst>
          </p:cNvPr>
          <p:cNvSpPr txBox="1"/>
          <p:nvPr/>
        </p:nvSpPr>
        <p:spPr>
          <a:xfrm>
            <a:off x="6484716" y="1535506"/>
            <a:ext cx="1093114" cy="369332"/>
          </a:xfrm>
          <a:prstGeom prst="rect">
            <a:avLst/>
          </a:prstGeom>
          <a:noFill/>
          <a:effectLst>
            <a:outerShdw blurRad="12700" dist="38100" dir="2700000" algn="tl" rotWithShape="0">
              <a:srgbClr val="1E46EF">
                <a:alpha val="5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>
                <a:solidFill>
                  <a:srgbClr val="1E46EF"/>
                </a:solidFill>
                <a:effectLst/>
                <a:latin typeface="Franklin Gothic Demi" panose="020B0703020102020204" pitchFamily="34" charset="0"/>
              </a:defRPr>
            </a:lvl1pPr>
          </a:lstStyle>
          <a:p>
            <a:r>
              <a:rPr lang="en-US" altLang="zh-TW" dirty="0"/>
              <a:t>Q1 2026</a:t>
            </a:r>
            <a:endParaRPr lang="en-AU" dirty="0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989622E4-3BD5-9A98-4879-C48EF601C38A}"/>
              </a:ext>
            </a:extLst>
          </p:cNvPr>
          <p:cNvSpPr/>
          <p:nvPr/>
        </p:nvSpPr>
        <p:spPr>
          <a:xfrm>
            <a:off x="8222744" y="2000565"/>
            <a:ext cx="2230263" cy="4408179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TextBox 11">
            <a:extLst>
              <a:ext uri="{FF2B5EF4-FFF2-40B4-BE49-F238E27FC236}">
                <a16:creationId xmlns:a16="http://schemas.microsoft.com/office/drawing/2014/main" id="{0C408149-F6BC-5DEE-C252-409AC55C472F}"/>
              </a:ext>
            </a:extLst>
          </p:cNvPr>
          <p:cNvSpPr txBox="1"/>
          <p:nvPr/>
        </p:nvSpPr>
        <p:spPr>
          <a:xfrm>
            <a:off x="8789307" y="1535506"/>
            <a:ext cx="1093114" cy="369332"/>
          </a:xfrm>
          <a:prstGeom prst="rect">
            <a:avLst/>
          </a:prstGeom>
          <a:noFill/>
          <a:effectLst>
            <a:outerShdw blurRad="12700" dist="38100" dir="2700000" algn="tl" rotWithShape="0">
              <a:srgbClr val="1E46EF">
                <a:alpha val="5000"/>
              </a:srgb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effectLst/>
                <a:latin typeface="Franklin Gothic Demi" panose="020B0703020102020204" pitchFamily="34" charset="0"/>
              </a:defRPr>
            </a:lvl1pPr>
          </a:lstStyle>
          <a:p>
            <a:r>
              <a:rPr lang="en-US" altLang="zh-TW" sz="1800" dirty="0">
                <a:solidFill>
                  <a:srgbClr val="1E46EF"/>
                </a:solidFill>
              </a:rPr>
              <a:t>Q2 2026</a:t>
            </a:r>
            <a:endParaRPr lang="en-AU" sz="1800" dirty="0">
              <a:solidFill>
                <a:srgbClr val="1E46EF"/>
              </a:solidFill>
            </a:endParaRPr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0B853BE5-B7E7-4ABA-01AB-DE63DF9D53AA}"/>
              </a:ext>
            </a:extLst>
          </p:cNvPr>
          <p:cNvSpPr txBox="1"/>
          <p:nvPr/>
        </p:nvSpPr>
        <p:spPr>
          <a:xfrm>
            <a:off x="1365679" y="2328896"/>
            <a:ext cx="4504969" cy="338554"/>
          </a:xfrm>
          <a:prstGeom prst="rect">
            <a:avLst/>
          </a:prstGeom>
          <a:solidFill>
            <a:srgbClr val="1E46E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Implement analytics tools</a:t>
            </a:r>
          </a:p>
        </p:txBody>
      </p:sp>
      <p:sp>
        <p:nvSpPr>
          <p:cNvPr id="100" name="文字方塊 99">
            <a:extLst>
              <a:ext uri="{FF2B5EF4-FFF2-40B4-BE49-F238E27FC236}">
                <a16:creationId xmlns:a16="http://schemas.microsoft.com/office/drawing/2014/main" id="{17D887FB-68A4-F229-B739-990D00C5170F}"/>
              </a:ext>
            </a:extLst>
          </p:cNvPr>
          <p:cNvSpPr txBox="1"/>
          <p:nvPr/>
        </p:nvSpPr>
        <p:spPr>
          <a:xfrm>
            <a:off x="1365679" y="3000817"/>
            <a:ext cx="4504969" cy="338554"/>
          </a:xfrm>
          <a:prstGeom prst="rect">
            <a:avLst/>
          </a:prstGeom>
          <a:solidFill>
            <a:srgbClr val="A7BAF8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Conduct Platform Research &amp; Outreach</a:t>
            </a:r>
            <a:endParaRPr lang="en-AU" altLang="zh-TW" sz="1600" dirty="0">
              <a:solidFill>
                <a:schemeClr val="bg1"/>
              </a:solidFill>
              <a:effectLst/>
              <a:latin typeface="Franklin Gothic Book" panose="020B0503020102020204" pitchFamily="34" charset="0"/>
            </a:endParaRPr>
          </a:p>
        </p:txBody>
      </p:sp>
      <p:sp>
        <p:nvSpPr>
          <p:cNvPr id="101" name="文字方塊 100">
            <a:extLst>
              <a:ext uri="{FF2B5EF4-FFF2-40B4-BE49-F238E27FC236}">
                <a16:creationId xmlns:a16="http://schemas.microsoft.com/office/drawing/2014/main" id="{217DBB4D-D67C-FD4F-8E6B-33B2928857C3}"/>
              </a:ext>
            </a:extLst>
          </p:cNvPr>
          <p:cNvSpPr txBox="1"/>
          <p:nvPr/>
        </p:nvSpPr>
        <p:spPr>
          <a:xfrm>
            <a:off x="3643447" y="3672738"/>
            <a:ext cx="4504969" cy="338554"/>
          </a:xfrm>
          <a:prstGeom prst="rect">
            <a:avLst/>
          </a:prstGeom>
          <a:solidFill>
            <a:srgbClr val="1E46E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Platform Integration</a:t>
            </a:r>
          </a:p>
        </p:txBody>
      </p:sp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61AED15B-8F86-C53B-0208-D025F3E9DC46}"/>
              </a:ext>
            </a:extLst>
          </p:cNvPr>
          <p:cNvSpPr txBox="1"/>
          <p:nvPr/>
        </p:nvSpPr>
        <p:spPr>
          <a:xfrm>
            <a:off x="3643447" y="4344659"/>
            <a:ext cx="4504969" cy="338554"/>
          </a:xfrm>
          <a:prstGeom prst="rect">
            <a:avLst/>
          </a:prstGeom>
          <a:solidFill>
            <a:srgbClr val="A7BAF8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Analyze Market Trends</a:t>
            </a:r>
            <a:endParaRPr lang="en-US" altLang="zh-TW" sz="1600" dirty="0">
              <a:solidFill>
                <a:schemeClr val="bg1"/>
              </a:solidFill>
              <a:effectLst/>
              <a:latin typeface="Franklin Gothic Book" panose="020B0503020102020204" pitchFamily="34" charset="0"/>
            </a:endParaRPr>
          </a:p>
        </p:txBody>
      </p:sp>
      <p:sp>
        <p:nvSpPr>
          <p:cNvPr id="103" name="文字方塊 102">
            <a:extLst>
              <a:ext uri="{FF2B5EF4-FFF2-40B4-BE49-F238E27FC236}">
                <a16:creationId xmlns:a16="http://schemas.microsoft.com/office/drawing/2014/main" id="{1E3C9748-07E7-2AEC-425A-EC0D9EB23AF5}"/>
              </a:ext>
            </a:extLst>
          </p:cNvPr>
          <p:cNvSpPr txBox="1"/>
          <p:nvPr/>
        </p:nvSpPr>
        <p:spPr>
          <a:xfrm>
            <a:off x="5915092" y="5016580"/>
            <a:ext cx="4537915" cy="338554"/>
          </a:xfrm>
          <a:prstGeom prst="rect">
            <a:avLst/>
          </a:prstGeom>
          <a:solidFill>
            <a:srgbClr val="A7BAF8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Define Business Model</a:t>
            </a:r>
          </a:p>
        </p:txBody>
      </p: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8F67A64C-B410-3A78-B3C3-BE7BEF1889CB}"/>
              </a:ext>
            </a:extLst>
          </p:cNvPr>
          <p:cNvSpPr txBox="1"/>
          <p:nvPr/>
        </p:nvSpPr>
        <p:spPr>
          <a:xfrm>
            <a:off x="1364149" y="5688501"/>
            <a:ext cx="9088858" cy="338554"/>
          </a:xfrm>
          <a:prstGeom prst="rect">
            <a:avLst/>
          </a:prstGeom>
          <a:solidFill>
            <a:srgbClr val="1E46EF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TW" sz="1600" dirty="0">
                <a:solidFill>
                  <a:schemeClr val="bg1"/>
                </a:solidFill>
              </a:rPr>
              <a:t>Optimize Codebase for Scalability and Better User Experience</a:t>
            </a:r>
          </a:p>
        </p:txBody>
      </p:sp>
    </p:spTree>
    <p:extLst>
      <p:ext uri="{BB962C8B-B14F-4D97-AF65-F5344CB8AC3E}">
        <p14:creationId xmlns:p14="http://schemas.microsoft.com/office/powerpoint/2010/main" val="546972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0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4" grpId="1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2266</TotalTime>
  <Words>154</Words>
  <Application>Microsoft Office PowerPoint</Application>
  <PresentationFormat>寬螢幕</PresentationFormat>
  <Paragraphs>25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1" baseType="lpstr">
      <vt:lpstr>Aptos</vt:lpstr>
      <vt:lpstr>Aptos Display</vt:lpstr>
      <vt:lpstr>Arial</vt:lpstr>
      <vt:lpstr>Franklin Gothic Book</vt:lpstr>
      <vt:lpstr>Franklin Gothic Demi</vt:lpstr>
      <vt:lpstr>Franklin Gothic Demi Cond</vt:lpstr>
      <vt:lpstr>Franklin Gothic Heavy</vt:lpstr>
      <vt:lpstr>Office Theme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Jack May</dc:creator>
  <cp:lastModifiedBy>samanthahuang1105@gmail.com</cp:lastModifiedBy>
  <cp:revision>7</cp:revision>
  <dcterms:created xsi:type="dcterms:W3CDTF">2025-04-09T11:02:58Z</dcterms:created>
  <dcterms:modified xsi:type="dcterms:W3CDTF">2025-04-24T10:58:48Z</dcterms:modified>
</cp:coreProperties>
</file>